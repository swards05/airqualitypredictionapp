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Alexandria Bold" charset="1" panose="00000000000000000000"/>
      <p:regular r:id="rId13"/>
    </p:embeddedFont>
    <p:embeddedFont>
      <p:font typeface="Garet" charset="1" panose="00000000000000000000"/>
      <p:regular r:id="rId14"/>
    </p:embeddedFont>
    <p:embeddedFont>
      <p:font typeface="Garet Bold" charset="1" panose="00000000000000000000"/>
      <p:regular r:id="rId15"/>
    </p:embeddedFont>
    <p:embeddedFont>
      <p:font typeface="Alexandria" charset="1" panose="000000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fonts/font16.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 Id="rId6" Target="../media/image9.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7.png" Type="http://schemas.openxmlformats.org/officeDocument/2006/relationships/image"/><Relationship Id="rId5"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3890343" y="5516388"/>
            <a:ext cx="4840370" cy="6758253"/>
          </a:xfrm>
          <a:custGeom>
            <a:avLst/>
            <a:gdLst/>
            <a:ahLst/>
            <a:cxnLst/>
            <a:rect r="r" b="b" t="t" l="l"/>
            <a:pathLst>
              <a:path h="6758253" w="4840370">
                <a:moveTo>
                  <a:pt x="4840371" y="6758253"/>
                </a:moveTo>
                <a:lnTo>
                  <a:pt x="0" y="6758253"/>
                </a:lnTo>
                <a:lnTo>
                  <a:pt x="0" y="0"/>
                </a:lnTo>
                <a:lnTo>
                  <a:pt x="4840371" y="0"/>
                </a:lnTo>
                <a:lnTo>
                  <a:pt x="4840371" y="6758253"/>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212327">
            <a:off x="-1633813"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2020970" y="4706943"/>
            <a:ext cx="7684967" cy="7684967"/>
          </a:xfrm>
          <a:custGeom>
            <a:avLst/>
            <a:gdLst/>
            <a:ahLst/>
            <a:cxnLst/>
            <a:rect r="r" b="b" t="t" l="l"/>
            <a:pathLst>
              <a:path h="7684967" w="7684967">
                <a:moveTo>
                  <a:pt x="7684968" y="0"/>
                </a:moveTo>
                <a:lnTo>
                  <a:pt x="0" y="0"/>
                </a:lnTo>
                <a:lnTo>
                  <a:pt x="0" y="7684968"/>
                </a:lnTo>
                <a:lnTo>
                  <a:pt x="7684968" y="7684968"/>
                </a:lnTo>
                <a:lnTo>
                  <a:pt x="7684968"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true" rot="-176744">
            <a:off x="12281842" y="-3234705"/>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true" rot="0">
            <a:off x="12348517" y="-3496396"/>
            <a:ext cx="6992792" cy="6992792"/>
          </a:xfrm>
          <a:custGeom>
            <a:avLst/>
            <a:gdLst/>
            <a:ahLst/>
            <a:cxnLst/>
            <a:rect r="r" b="b" t="t" l="l"/>
            <a:pathLst>
              <a:path h="6992792" w="6992792">
                <a:moveTo>
                  <a:pt x="0" y="6992792"/>
                </a:moveTo>
                <a:lnTo>
                  <a:pt x="6992792" y="6992792"/>
                </a:lnTo>
                <a:lnTo>
                  <a:pt x="6992792" y="0"/>
                </a:lnTo>
                <a:lnTo>
                  <a:pt x="0" y="0"/>
                </a:lnTo>
                <a:lnTo>
                  <a:pt x="0" y="6992792"/>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2668325" y="800100"/>
            <a:ext cx="12951349" cy="1974712"/>
          </a:xfrm>
          <a:prstGeom prst="rect">
            <a:avLst/>
          </a:prstGeom>
        </p:spPr>
        <p:txBody>
          <a:bodyPr anchor="t" rtlCol="false" tIns="0" lIns="0" bIns="0" rIns="0">
            <a:spAutoFit/>
          </a:bodyPr>
          <a:lstStyle/>
          <a:p>
            <a:pPr algn="ctr">
              <a:lnSpc>
                <a:spcPts val="16107"/>
              </a:lnSpc>
            </a:pPr>
            <a:r>
              <a:rPr lang="en-US" b="true" sz="11505">
                <a:solidFill>
                  <a:srgbClr val="3F3D3E"/>
                </a:solidFill>
                <a:latin typeface="Alexandria Bold"/>
                <a:ea typeface="Alexandria Bold"/>
                <a:cs typeface="Alexandria Bold"/>
                <a:sym typeface="Alexandria Bold"/>
              </a:rPr>
              <a:t>TITLE</a:t>
            </a:r>
          </a:p>
        </p:txBody>
      </p:sp>
      <p:sp>
        <p:nvSpPr>
          <p:cNvPr name="TextBox 9" id="9"/>
          <p:cNvSpPr txBox="true"/>
          <p:nvPr/>
        </p:nvSpPr>
        <p:spPr>
          <a:xfrm rot="0">
            <a:off x="3204791" y="4400896"/>
            <a:ext cx="12573447" cy="2252902"/>
          </a:xfrm>
          <a:prstGeom prst="rect">
            <a:avLst/>
          </a:prstGeom>
        </p:spPr>
        <p:txBody>
          <a:bodyPr anchor="t" rtlCol="false" tIns="0" lIns="0" bIns="0" rIns="0">
            <a:spAutoFit/>
          </a:bodyPr>
          <a:lstStyle/>
          <a:p>
            <a:pPr algn="just">
              <a:lnSpc>
                <a:spcPts val="6024"/>
              </a:lnSpc>
            </a:pPr>
            <a:r>
              <a:rPr lang="en-US" sz="4303">
                <a:solidFill>
                  <a:srgbClr val="545454"/>
                </a:solidFill>
                <a:latin typeface="Garet"/>
                <a:ea typeface="Garet"/>
                <a:cs typeface="Garet"/>
                <a:sym typeface="Garet"/>
              </a:rPr>
              <a:t>Predictive Maintenance in Manufacturing using Sensor Data and Gradient Boosting </a:t>
            </a:r>
          </a:p>
          <a:p>
            <a:pPr algn="just">
              <a:lnSpc>
                <a:spcPts val="6024"/>
              </a:lnSpc>
              <a:spcBef>
                <a:spcPct val="0"/>
              </a:spcBef>
            </a:pPr>
            <a:r>
              <a:rPr lang="en-US" sz="4303">
                <a:solidFill>
                  <a:srgbClr val="545454"/>
                </a:solidFill>
                <a:latin typeface="Garet"/>
                <a:ea typeface="Garet"/>
                <a:cs typeface="Garet"/>
                <a:sym typeface="Garet"/>
              </a:rPr>
              <a:t>(with Model-Based Feature Selection)</a:t>
            </a:r>
          </a:p>
        </p:txBody>
      </p:sp>
      <p:grpSp>
        <p:nvGrpSpPr>
          <p:cNvPr name="Group 10" id="10"/>
          <p:cNvGrpSpPr/>
          <p:nvPr/>
        </p:nvGrpSpPr>
        <p:grpSpPr>
          <a:xfrm rot="0">
            <a:off x="6792714" y="8190378"/>
            <a:ext cx="4702572" cy="705137"/>
            <a:chOff x="0" y="0"/>
            <a:chExt cx="1238538" cy="185715"/>
          </a:xfrm>
        </p:grpSpPr>
        <p:sp>
          <p:nvSpPr>
            <p:cNvPr name="Freeform 11" id="11"/>
            <p:cNvSpPr/>
            <p:nvPr/>
          </p:nvSpPr>
          <p:spPr>
            <a:xfrm flipH="false" flipV="false" rot="0">
              <a:off x="0" y="0"/>
              <a:ext cx="1238537" cy="185715"/>
            </a:xfrm>
            <a:custGeom>
              <a:avLst/>
              <a:gdLst/>
              <a:ahLst/>
              <a:cxnLst/>
              <a:rect r="r" b="b" t="t" l="l"/>
              <a:pathLst>
                <a:path h="185715" w="1238537">
                  <a:moveTo>
                    <a:pt x="92858" y="0"/>
                  </a:moveTo>
                  <a:lnTo>
                    <a:pt x="1145680" y="0"/>
                  </a:lnTo>
                  <a:cubicBezTo>
                    <a:pt x="1196964" y="0"/>
                    <a:pt x="1238537" y="41574"/>
                    <a:pt x="1238537" y="92858"/>
                  </a:cubicBezTo>
                  <a:lnTo>
                    <a:pt x="1238537" y="92858"/>
                  </a:lnTo>
                  <a:cubicBezTo>
                    <a:pt x="1238537" y="117485"/>
                    <a:pt x="1228754" y="141104"/>
                    <a:pt x="1211340" y="158518"/>
                  </a:cubicBezTo>
                  <a:cubicBezTo>
                    <a:pt x="1193926" y="175932"/>
                    <a:pt x="1170307" y="185715"/>
                    <a:pt x="1145680" y="185715"/>
                  </a:cubicBezTo>
                  <a:lnTo>
                    <a:pt x="92858" y="185715"/>
                  </a:lnTo>
                  <a:cubicBezTo>
                    <a:pt x="68230" y="185715"/>
                    <a:pt x="44612" y="175932"/>
                    <a:pt x="27197" y="158518"/>
                  </a:cubicBezTo>
                  <a:cubicBezTo>
                    <a:pt x="9783" y="141104"/>
                    <a:pt x="0" y="117485"/>
                    <a:pt x="0" y="92858"/>
                  </a:cubicBezTo>
                  <a:lnTo>
                    <a:pt x="0" y="92858"/>
                  </a:lnTo>
                  <a:cubicBezTo>
                    <a:pt x="0" y="68230"/>
                    <a:pt x="9783" y="44612"/>
                    <a:pt x="27197" y="27197"/>
                  </a:cubicBezTo>
                  <a:cubicBezTo>
                    <a:pt x="44612" y="9783"/>
                    <a:pt x="68230" y="0"/>
                    <a:pt x="92858" y="0"/>
                  </a:cubicBezTo>
                  <a:close/>
                </a:path>
              </a:pathLst>
            </a:custGeom>
            <a:solidFill>
              <a:srgbClr val="545454"/>
            </a:solidFill>
            <a:ln w="38100" cap="rnd">
              <a:solidFill>
                <a:srgbClr val="545454"/>
              </a:solidFill>
              <a:prstDash val="solid"/>
              <a:round/>
            </a:ln>
          </p:spPr>
        </p:sp>
        <p:sp>
          <p:nvSpPr>
            <p:cNvPr name="TextBox 12" id="12"/>
            <p:cNvSpPr txBox="true"/>
            <p:nvPr/>
          </p:nvSpPr>
          <p:spPr>
            <a:xfrm>
              <a:off x="0" y="-38100"/>
              <a:ext cx="1238538" cy="223815"/>
            </a:xfrm>
            <a:prstGeom prst="rect">
              <a:avLst/>
            </a:prstGeom>
          </p:spPr>
          <p:txBody>
            <a:bodyPr anchor="ctr" rtlCol="false" tIns="50800" lIns="50800" bIns="50800" rIns="50800"/>
            <a:lstStyle/>
            <a:p>
              <a:pPr algn="ctr">
                <a:lnSpc>
                  <a:spcPts val="2897"/>
                </a:lnSpc>
              </a:pPr>
            </a:p>
          </p:txBody>
        </p:sp>
      </p:grpSp>
      <p:sp>
        <p:nvSpPr>
          <p:cNvPr name="TextBox 13" id="13"/>
          <p:cNvSpPr txBox="true"/>
          <p:nvPr/>
        </p:nvSpPr>
        <p:spPr>
          <a:xfrm rot="0">
            <a:off x="6991338" y="8215208"/>
            <a:ext cx="4305324" cy="522126"/>
          </a:xfrm>
          <a:prstGeom prst="rect">
            <a:avLst/>
          </a:prstGeom>
        </p:spPr>
        <p:txBody>
          <a:bodyPr anchor="t" rtlCol="false" tIns="0" lIns="0" bIns="0" rIns="0">
            <a:spAutoFit/>
          </a:bodyPr>
          <a:lstStyle/>
          <a:p>
            <a:pPr algn="ctr">
              <a:lnSpc>
                <a:spcPts val="4296"/>
              </a:lnSpc>
              <a:spcBef>
                <a:spcPct val="0"/>
              </a:spcBef>
            </a:pPr>
            <a:r>
              <a:rPr lang="en-US" sz="3068">
                <a:solidFill>
                  <a:srgbClr val="E9E9E9"/>
                </a:solidFill>
                <a:latin typeface="Garet"/>
                <a:ea typeface="Garet"/>
                <a:cs typeface="Garet"/>
                <a:sym typeface="Garet"/>
              </a:rPr>
              <a:t>PROJECT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541415" y="876300"/>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ABSTRACT</a:t>
            </a:r>
          </a:p>
        </p:txBody>
      </p:sp>
      <p:sp>
        <p:nvSpPr>
          <p:cNvPr name="TextBox 4" id="4"/>
          <p:cNvSpPr txBox="true"/>
          <p:nvPr/>
        </p:nvSpPr>
        <p:spPr>
          <a:xfrm rot="0">
            <a:off x="1255230" y="3224332"/>
            <a:ext cx="16230600" cy="5212871"/>
          </a:xfrm>
          <a:prstGeom prst="rect">
            <a:avLst/>
          </a:prstGeom>
        </p:spPr>
        <p:txBody>
          <a:bodyPr anchor="t" rtlCol="false" tIns="0" lIns="0" bIns="0" rIns="0">
            <a:spAutoFit/>
          </a:bodyPr>
          <a:lstStyle/>
          <a:p>
            <a:pPr algn="just">
              <a:lnSpc>
                <a:spcPts val="4576"/>
              </a:lnSpc>
              <a:spcBef>
                <a:spcPct val="0"/>
              </a:spcBef>
            </a:pPr>
            <a:r>
              <a:rPr lang="en-US" sz="3268">
                <a:solidFill>
                  <a:srgbClr val="545454"/>
                </a:solidFill>
                <a:latin typeface="Garet"/>
                <a:ea typeface="Garet"/>
                <a:cs typeface="Garet"/>
                <a:sym typeface="Garet"/>
              </a:rPr>
              <a:t>In manufacturing, unexpected machine failures lead to costly downtime and reduced efficiency. Predictive maintenance uses sensor data and machine learning to detect failures in advance, enabling timely action. This project applies Gradient Boosting to the AI4I 2020 and NASA C-MAPSS datasets to classify machine states and predict breakdowns. Model-based feature selection identifies the most important sensors, improving accuracy and interpretability. Performance is compared with and without feature selection, and results are visualized using feature importance plots, confusion matrices, and ROC curves for clear insights.</a:t>
            </a: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03</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989686" y="876300"/>
            <a:ext cx="12308628"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PROBLEM STATEMENT</a:t>
            </a:r>
          </a:p>
        </p:txBody>
      </p:sp>
      <p:sp>
        <p:nvSpPr>
          <p:cNvPr name="TextBox 4" id="4"/>
          <p:cNvSpPr txBox="true"/>
          <p:nvPr/>
        </p:nvSpPr>
        <p:spPr>
          <a:xfrm rot="0">
            <a:off x="2471955" y="3089259"/>
            <a:ext cx="14192502" cy="5212871"/>
          </a:xfrm>
          <a:prstGeom prst="rect">
            <a:avLst/>
          </a:prstGeom>
        </p:spPr>
        <p:txBody>
          <a:bodyPr anchor="t" rtlCol="false" tIns="0" lIns="0" bIns="0" rIns="0">
            <a:spAutoFit/>
          </a:bodyPr>
          <a:lstStyle/>
          <a:p>
            <a:pPr algn="just">
              <a:lnSpc>
                <a:spcPts val="4576"/>
              </a:lnSpc>
              <a:spcBef>
                <a:spcPct val="0"/>
              </a:spcBef>
            </a:pPr>
            <a:r>
              <a:rPr lang="en-US" sz="3268">
                <a:solidFill>
                  <a:srgbClr val="545454"/>
                </a:solidFill>
                <a:latin typeface="Garet"/>
                <a:ea typeface="Garet"/>
                <a:cs typeface="Garet"/>
                <a:sym typeface="Garet"/>
              </a:rPr>
              <a:t>Manufacturing industries face significant challenges due to unexpected machine breakdowns, leading to unplanned downtime, financial losses, and reduced efficiency. Traditional maintenance strategies, such as reactive and scheduled maintenance, either respond too late or waste resources by replacing components prematurely. There is a need for an intelligent system that can predict equipment failures in advance using real-time sensor data, enabling timely and cost-effective maintenance actions.</a:t>
            </a: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3318114" y="2783543"/>
            <a:ext cx="12678359" cy="1145696"/>
          </a:xfrm>
          <a:prstGeom prst="rect">
            <a:avLst/>
          </a:prstGeom>
        </p:spPr>
        <p:txBody>
          <a:bodyPr anchor="t" rtlCol="false" tIns="0" lIns="0" bIns="0" rIns="0">
            <a:spAutoFit/>
          </a:bodyPr>
          <a:lstStyle/>
          <a:p>
            <a:pPr algn="just">
              <a:lnSpc>
                <a:spcPts val="4576"/>
              </a:lnSpc>
              <a:spcBef>
                <a:spcPct val="0"/>
              </a:spcBef>
            </a:pPr>
            <a:r>
              <a:rPr lang="en-US" sz="3268">
                <a:solidFill>
                  <a:srgbClr val="545454"/>
                </a:solidFill>
                <a:latin typeface="Garet"/>
                <a:ea typeface="Garet"/>
                <a:cs typeface="Garet"/>
                <a:sym typeface="Garet"/>
              </a:rPr>
              <a:t>To develop a predictive maintenance model using Gradient Boosting for accurate machine failure prediction.</a:t>
            </a:r>
          </a:p>
        </p:txBody>
      </p:sp>
      <p:sp>
        <p:nvSpPr>
          <p:cNvPr name="TextBox 4" id="4"/>
          <p:cNvSpPr txBox="true"/>
          <p:nvPr/>
        </p:nvSpPr>
        <p:spPr>
          <a:xfrm rot="0">
            <a:off x="4541415" y="863511"/>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OBJECTIVES</a:t>
            </a:r>
          </a:p>
        </p:txBody>
      </p:sp>
      <p:sp>
        <p:nvSpPr>
          <p:cNvPr name="TextBox 5" id="5"/>
          <p:cNvSpPr txBox="true"/>
          <p:nvPr/>
        </p:nvSpPr>
        <p:spPr>
          <a:xfrm rot="0">
            <a:off x="1978884" y="2726393"/>
            <a:ext cx="1204169" cy="1087510"/>
          </a:xfrm>
          <a:prstGeom prst="rect">
            <a:avLst/>
          </a:prstGeom>
        </p:spPr>
        <p:txBody>
          <a:bodyPr anchor="t" rtlCol="false" tIns="0" lIns="0" bIns="0" rIns="0">
            <a:spAutoFit/>
          </a:bodyPr>
          <a:lstStyle/>
          <a:p>
            <a:pPr algn="ctr">
              <a:lnSpc>
                <a:spcPts val="8889"/>
              </a:lnSpc>
            </a:pPr>
            <a:r>
              <a:rPr lang="en-US" sz="6349">
                <a:solidFill>
                  <a:srgbClr val="3F3D3E"/>
                </a:solidFill>
                <a:latin typeface="Alexandria"/>
                <a:ea typeface="Alexandria"/>
                <a:cs typeface="Alexandria"/>
                <a:sym typeface="Alexandria"/>
              </a:rPr>
              <a:t>1.</a:t>
            </a:r>
          </a:p>
        </p:txBody>
      </p:sp>
      <p:sp>
        <p:nvSpPr>
          <p:cNvPr name="TextBox 6" id="6"/>
          <p:cNvSpPr txBox="true"/>
          <p:nvPr/>
        </p:nvSpPr>
        <p:spPr>
          <a:xfrm rot="0">
            <a:off x="3318114" y="4288156"/>
            <a:ext cx="12678359" cy="1145696"/>
          </a:xfrm>
          <a:prstGeom prst="rect">
            <a:avLst/>
          </a:prstGeom>
        </p:spPr>
        <p:txBody>
          <a:bodyPr anchor="t" rtlCol="false" tIns="0" lIns="0" bIns="0" rIns="0">
            <a:spAutoFit/>
          </a:bodyPr>
          <a:lstStyle/>
          <a:p>
            <a:pPr algn="just">
              <a:lnSpc>
                <a:spcPts val="4576"/>
              </a:lnSpc>
              <a:spcBef>
                <a:spcPct val="0"/>
              </a:spcBef>
            </a:pPr>
            <a:r>
              <a:rPr lang="en-US" sz="3268">
                <a:solidFill>
                  <a:srgbClr val="545454"/>
                </a:solidFill>
                <a:latin typeface="Garet"/>
                <a:ea typeface="Garet"/>
                <a:cs typeface="Garet"/>
                <a:sym typeface="Garet"/>
              </a:rPr>
              <a:t>To apply model-based feature selection for identifying the most significant sensors influencing failure prediction.</a:t>
            </a:r>
          </a:p>
        </p:txBody>
      </p:sp>
      <p:sp>
        <p:nvSpPr>
          <p:cNvPr name="TextBox 7" id="7"/>
          <p:cNvSpPr txBox="true"/>
          <p:nvPr/>
        </p:nvSpPr>
        <p:spPr>
          <a:xfrm rot="0">
            <a:off x="1978884" y="4231006"/>
            <a:ext cx="1204169" cy="1087510"/>
          </a:xfrm>
          <a:prstGeom prst="rect">
            <a:avLst/>
          </a:prstGeom>
        </p:spPr>
        <p:txBody>
          <a:bodyPr anchor="t" rtlCol="false" tIns="0" lIns="0" bIns="0" rIns="0">
            <a:spAutoFit/>
          </a:bodyPr>
          <a:lstStyle/>
          <a:p>
            <a:pPr algn="ctr">
              <a:lnSpc>
                <a:spcPts val="8889"/>
              </a:lnSpc>
            </a:pPr>
            <a:r>
              <a:rPr lang="en-US" sz="6349">
                <a:solidFill>
                  <a:srgbClr val="3F3D3E"/>
                </a:solidFill>
                <a:latin typeface="Alexandria"/>
                <a:ea typeface="Alexandria"/>
                <a:cs typeface="Alexandria"/>
                <a:sym typeface="Alexandria"/>
              </a:rPr>
              <a:t>2.</a:t>
            </a:r>
          </a:p>
        </p:txBody>
      </p:sp>
      <p:sp>
        <p:nvSpPr>
          <p:cNvPr name="Freeform 8" id="8"/>
          <p:cNvSpPr/>
          <p:nvPr/>
        </p:nvSpPr>
        <p:spPr>
          <a:xfrm flipH="false" flipV="false" rot="-574333">
            <a:off x="-827176" y="5383569"/>
            <a:ext cx="4840370" cy="6758253"/>
          </a:xfrm>
          <a:custGeom>
            <a:avLst/>
            <a:gdLst/>
            <a:ahLst/>
            <a:cxnLst/>
            <a:rect r="r" b="b" t="t" l="l"/>
            <a:pathLst>
              <a:path h="6758253" w="4840370">
                <a:moveTo>
                  <a:pt x="0" y="0"/>
                </a:moveTo>
                <a:lnTo>
                  <a:pt x="4840371" y="0"/>
                </a:lnTo>
                <a:lnTo>
                  <a:pt x="4840371" y="6758254"/>
                </a:lnTo>
                <a:lnTo>
                  <a:pt x="0" y="675825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9" id="9"/>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10" id="10"/>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02</a:t>
            </a:r>
          </a:p>
        </p:txBody>
      </p:sp>
      <p:sp>
        <p:nvSpPr>
          <p:cNvPr name="TextBox 11" id="11"/>
          <p:cNvSpPr txBox="true"/>
          <p:nvPr/>
        </p:nvSpPr>
        <p:spPr>
          <a:xfrm rot="0">
            <a:off x="3318114" y="5997375"/>
            <a:ext cx="14344102" cy="1145696"/>
          </a:xfrm>
          <a:prstGeom prst="rect">
            <a:avLst/>
          </a:prstGeom>
        </p:spPr>
        <p:txBody>
          <a:bodyPr anchor="t" rtlCol="false" tIns="0" lIns="0" bIns="0" rIns="0">
            <a:spAutoFit/>
          </a:bodyPr>
          <a:lstStyle/>
          <a:p>
            <a:pPr algn="just">
              <a:lnSpc>
                <a:spcPts val="4576"/>
              </a:lnSpc>
              <a:spcBef>
                <a:spcPct val="0"/>
              </a:spcBef>
            </a:pPr>
            <a:r>
              <a:rPr lang="en-US" sz="3268">
                <a:solidFill>
                  <a:srgbClr val="545454"/>
                </a:solidFill>
                <a:latin typeface="Garet"/>
                <a:ea typeface="Garet"/>
                <a:cs typeface="Garet"/>
                <a:sym typeface="Garet"/>
              </a:rPr>
              <a:t>To evaluate model performance with and without feature selection using metrics such as Accuracy, F1-score, and ROC-AUC.</a:t>
            </a:r>
          </a:p>
        </p:txBody>
      </p:sp>
      <p:sp>
        <p:nvSpPr>
          <p:cNvPr name="TextBox 12" id="12"/>
          <p:cNvSpPr txBox="true"/>
          <p:nvPr/>
        </p:nvSpPr>
        <p:spPr>
          <a:xfrm rot="0">
            <a:off x="3318114" y="7732336"/>
            <a:ext cx="12678359" cy="1145696"/>
          </a:xfrm>
          <a:prstGeom prst="rect">
            <a:avLst/>
          </a:prstGeom>
        </p:spPr>
        <p:txBody>
          <a:bodyPr anchor="t" rtlCol="false" tIns="0" lIns="0" bIns="0" rIns="0">
            <a:spAutoFit/>
          </a:bodyPr>
          <a:lstStyle/>
          <a:p>
            <a:pPr algn="just">
              <a:lnSpc>
                <a:spcPts val="4576"/>
              </a:lnSpc>
              <a:spcBef>
                <a:spcPct val="0"/>
              </a:spcBef>
            </a:pPr>
            <a:r>
              <a:rPr lang="en-US" sz="3268">
                <a:solidFill>
                  <a:srgbClr val="545454"/>
                </a:solidFill>
                <a:latin typeface="Garet"/>
                <a:ea typeface="Garet"/>
                <a:cs typeface="Garet"/>
                <a:sym typeface="Garet"/>
              </a:rPr>
              <a:t>To visualize and interpret model results for better decision-making in manufacturing maintenance planning.</a:t>
            </a:r>
          </a:p>
        </p:txBody>
      </p:sp>
      <p:sp>
        <p:nvSpPr>
          <p:cNvPr name="TextBox 13" id="13"/>
          <p:cNvSpPr txBox="true"/>
          <p:nvPr/>
        </p:nvSpPr>
        <p:spPr>
          <a:xfrm rot="0">
            <a:off x="1978884" y="5940225"/>
            <a:ext cx="1204169" cy="1087510"/>
          </a:xfrm>
          <a:prstGeom prst="rect">
            <a:avLst/>
          </a:prstGeom>
        </p:spPr>
        <p:txBody>
          <a:bodyPr anchor="t" rtlCol="false" tIns="0" lIns="0" bIns="0" rIns="0">
            <a:spAutoFit/>
          </a:bodyPr>
          <a:lstStyle/>
          <a:p>
            <a:pPr algn="ctr">
              <a:lnSpc>
                <a:spcPts val="8889"/>
              </a:lnSpc>
            </a:pPr>
            <a:r>
              <a:rPr lang="en-US" sz="6349">
                <a:solidFill>
                  <a:srgbClr val="3F3D3E"/>
                </a:solidFill>
                <a:latin typeface="Alexandria"/>
                <a:ea typeface="Alexandria"/>
                <a:cs typeface="Alexandria"/>
                <a:sym typeface="Alexandria"/>
              </a:rPr>
              <a:t>3.</a:t>
            </a:r>
          </a:p>
        </p:txBody>
      </p:sp>
      <p:sp>
        <p:nvSpPr>
          <p:cNvPr name="TextBox 14" id="14"/>
          <p:cNvSpPr txBox="true"/>
          <p:nvPr/>
        </p:nvSpPr>
        <p:spPr>
          <a:xfrm rot="0">
            <a:off x="1978884" y="7675186"/>
            <a:ext cx="1204169" cy="1087510"/>
          </a:xfrm>
          <a:prstGeom prst="rect">
            <a:avLst/>
          </a:prstGeom>
        </p:spPr>
        <p:txBody>
          <a:bodyPr anchor="t" rtlCol="false" tIns="0" lIns="0" bIns="0" rIns="0">
            <a:spAutoFit/>
          </a:bodyPr>
          <a:lstStyle/>
          <a:p>
            <a:pPr algn="ctr">
              <a:lnSpc>
                <a:spcPts val="8889"/>
              </a:lnSpc>
            </a:pPr>
            <a:r>
              <a:rPr lang="en-US" sz="6349">
                <a:solidFill>
                  <a:srgbClr val="3F3D3E"/>
                </a:solidFill>
                <a:latin typeface="Alexandria"/>
                <a:ea typeface="Alexandria"/>
                <a:cs typeface="Alexandria"/>
                <a:sym typeface="Alexandria"/>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4" id="4"/>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Freeform 5" id="5"/>
          <p:cNvSpPr/>
          <p:nvPr/>
        </p:nvSpPr>
        <p:spPr>
          <a:xfrm flipH="false" flipV="false" rot="0">
            <a:off x="3817984" y="865645"/>
            <a:ext cx="10986244" cy="8239683"/>
          </a:xfrm>
          <a:custGeom>
            <a:avLst/>
            <a:gdLst/>
            <a:ahLst/>
            <a:cxnLst/>
            <a:rect r="r" b="b" t="t" l="l"/>
            <a:pathLst>
              <a:path h="8239683" w="10986244">
                <a:moveTo>
                  <a:pt x="0" y="0"/>
                </a:moveTo>
                <a:lnTo>
                  <a:pt x="10986243" y="0"/>
                </a:lnTo>
                <a:lnTo>
                  <a:pt x="10986243" y="8239683"/>
                </a:lnTo>
                <a:lnTo>
                  <a:pt x="0" y="8239683"/>
                </a:lnTo>
                <a:lnTo>
                  <a:pt x="0" y="0"/>
                </a:lnTo>
                <a:close/>
              </a:path>
            </a:pathLst>
          </a:custGeom>
          <a:blipFill>
            <a:blip r:embed="rId6"/>
            <a:stretch>
              <a:fillRect l="0" t="0" r="0" b="0"/>
            </a:stretch>
          </a:blipFill>
        </p:spPr>
      </p:sp>
      <p:sp>
        <p:nvSpPr>
          <p:cNvPr name="TextBox 6" id="6"/>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08</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4736042" y="876300"/>
            <a:ext cx="9205169" cy="1392492"/>
          </a:xfrm>
          <a:prstGeom prst="rect">
            <a:avLst/>
          </a:prstGeom>
        </p:spPr>
        <p:txBody>
          <a:bodyPr anchor="t" rtlCol="false" tIns="0" lIns="0" bIns="0" rIns="0">
            <a:spAutoFit/>
          </a:bodyPr>
          <a:lstStyle/>
          <a:p>
            <a:pPr algn="ctr">
              <a:lnSpc>
                <a:spcPts val="11448"/>
              </a:lnSpc>
            </a:pPr>
            <a:r>
              <a:rPr lang="en-US" b="true" sz="8177">
                <a:solidFill>
                  <a:srgbClr val="3F3D3E"/>
                </a:solidFill>
                <a:latin typeface="Alexandria Bold"/>
                <a:ea typeface="Alexandria Bold"/>
                <a:cs typeface="Alexandria Bold"/>
                <a:sym typeface="Alexandria Bold"/>
              </a:rPr>
              <a:t>CONCLUSION</a:t>
            </a:r>
          </a:p>
        </p:txBody>
      </p:sp>
      <p:sp>
        <p:nvSpPr>
          <p:cNvPr name="TextBox 4" id="4"/>
          <p:cNvSpPr txBox="true"/>
          <p:nvPr/>
        </p:nvSpPr>
        <p:spPr>
          <a:xfrm rot="0">
            <a:off x="1028700" y="3337799"/>
            <a:ext cx="16230600" cy="4631846"/>
          </a:xfrm>
          <a:prstGeom prst="rect">
            <a:avLst/>
          </a:prstGeom>
        </p:spPr>
        <p:txBody>
          <a:bodyPr anchor="t" rtlCol="false" tIns="0" lIns="0" bIns="0" rIns="0">
            <a:spAutoFit/>
          </a:bodyPr>
          <a:lstStyle/>
          <a:p>
            <a:pPr algn="just">
              <a:lnSpc>
                <a:spcPts val="4576"/>
              </a:lnSpc>
              <a:spcBef>
                <a:spcPct val="0"/>
              </a:spcBef>
            </a:pPr>
            <a:r>
              <a:rPr lang="en-US" sz="3268">
                <a:solidFill>
                  <a:srgbClr val="545454"/>
                </a:solidFill>
                <a:latin typeface="Garet"/>
                <a:ea typeface="Garet"/>
                <a:cs typeface="Garet"/>
                <a:sym typeface="Garet"/>
              </a:rPr>
              <a:t>The project demonstrates that machine learning, particularly Gradient Boosting, can effectively predict equipment failures in manufacturing using sensor data. Model-based feature selection improves performance, reduces unnecessary computation, and highlights the most critical sensors. The results show that predictive maintenance can minimize downtime, optimize resource usage, and support data-driven decision-making for industrial operations.</a:t>
            </a:r>
          </a:p>
          <a:p>
            <a:pPr algn="just">
              <a:lnSpc>
                <a:spcPts val="4576"/>
              </a:lnSpc>
              <a:spcBef>
                <a:spcPct val="0"/>
              </a:spcBef>
            </a:pPr>
          </a:p>
        </p:txBody>
      </p:sp>
      <p:sp>
        <p:nvSpPr>
          <p:cNvPr name="Freeform 5" id="5"/>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6" id="6"/>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7" id="7"/>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09</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9E9E9"/>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598671" y="-1743170"/>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3" id="3"/>
          <p:cNvSpPr txBox="true"/>
          <p:nvPr/>
        </p:nvSpPr>
        <p:spPr>
          <a:xfrm rot="0">
            <a:off x="2330675" y="1407357"/>
            <a:ext cx="12951349" cy="1974712"/>
          </a:xfrm>
          <a:prstGeom prst="rect">
            <a:avLst/>
          </a:prstGeom>
        </p:spPr>
        <p:txBody>
          <a:bodyPr anchor="t" rtlCol="false" tIns="0" lIns="0" bIns="0" rIns="0">
            <a:spAutoFit/>
          </a:bodyPr>
          <a:lstStyle/>
          <a:p>
            <a:pPr algn="ctr">
              <a:lnSpc>
                <a:spcPts val="16107"/>
              </a:lnSpc>
            </a:pPr>
            <a:r>
              <a:rPr lang="en-US" b="true" sz="11505">
                <a:solidFill>
                  <a:srgbClr val="3F3D3E"/>
                </a:solidFill>
                <a:latin typeface="Alexandria Bold"/>
                <a:ea typeface="Alexandria Bold"/>
                <a:cs typeface="Alexandria Bold"/>
                <a:sym typeface="Alexandria Bold"/>
              </a:rPr>
              <a:t>THANK YOU</a:t>
            </a:r>
          </a:p>
        </p:txBody>
      </p:sp>
      <p:sp>
        <p:nvSpPr>
          <p:cNvPr name="Freeform 4" id="4"/>
          <p:cNvSpPr/>
          <p:nvPr/>
        </p:nvSpPr>
        <p:spPr>
          <a:xfrm flipH="false" flipV="false" rot="-574333">
            <a:off x="-598671" y="5498906"/>
            <a:ext cx="4840370" cy="6758253"/>
          </a:xfrm>
          <a:custGeom>
            <a:avLst/>
            <a:gdLst/>
            <a:ahLst/>
            <a:cxnLst/>
            <a:rect r="r" b="b" t="t" l="l"/>
            <a:pathLst>
              <a:path h="6758253" w="4840370">
                <a:moveTo>
                  <a:pt x="0" y="0"/>
                </a:moveTo>
                <a:lnTo>
                  <a:pt x="4840370" y="0"/>
                </a:lnTo>
                <a:lnTo>
                  <a:pt x="4840370" y="6758253"/>
                </a:lnTo>
                <a:lnTo>
                  <a:pt x="0" y="67582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AutoShape 5" id="5"/>
          <p:cNvSpPr/>
          <p:nvPr/>
        </p:nvSpPr>
        <p:spPr>
          <a:xfrm>
            <a:off x="4541415" y="9464180"/>
            <a:ext cx="11672841" cy="0"/>
          </a:xfrm>
          <a:prstGeom prst="line">
            <a:avLst/>
          </a:prstGeom>
          <a:ln cap="flat" w="9525">
            <a:solidFill>
              <a:srgbClr val="545454"/>
            </a:solidFill>
            <a:prstDash val="solid"/>
            <a:headEnd type="none" len="sm" w="sm"/>
            <a:tailEnd type="none" len="sm" w="sm"/>
          </a:ln>
        </p:spPr>
      </p:sp>
      <p:sp>
        <p:nvSpPr>
          <p:cNvPr name="TextBox 6" id="6"/>
          <p:cNvSpPr txBox="true"/>
          <p:nvPr/>
        </p:nvSpPr>
        <p:spPr>
          <a:xfrm rot="0">
            <a:off x="16214256" y="9019603"/>
            <a:ext cx="1271574" cy="803430"/>
          </a:xfrm>
          <a:prstGeom prst="rect">
            <a:avLst/>
          </a:prstGeom>
        </p:spPr>
        <p:txBody>
          <a:bodyPr anchor="t" rtlCol="false" tIns="0" lIns="0" bIns="0" rIns="0">
            <a:spAutoFit/>
          </a:bodyPr>
          <a:lstStyle/>
          <a:p>
            <a:pPr algn="ctr">
              <a:lnSpc>
                <a:spcPts val="6641"/>
              </a:lnSpc>
              <a:spcBef>
                <a:spcPct val="0"/>
              </a:spcBef>
            </a:pPr>
            <a:r>
              <a:rPr lang="en-US" b="true" sz="4743">
                <a:solidFill>
                  <a:srgbClr val="545454"/>
                </a:solidFill>
                <a:latin typeface="Garet Bold"/>
                <a:ea typeface="Garet Bold"/>
                <a:cs typeface="Garet Bold"/>
                <a:sym typeface="Garet Bold"/>
              </a:rPr>
              <a:t>10</a:t>
            </a:r>
          </a:p>
        </p:txBody>
      </p:sp>
      <p:sp>
        <p:nvSpPr>
          <p:cNvPr name="TextBox 7" id="7"/>
          <p:cNvSpPr txBox="true"/>
          <p:nvPr/>
        </p:nvSpPr>
        <p:spPr>
          <a:xfrm rot="0">
            <a:off x="3995261" y="4698923"/>
            <a:ext cx="7083623" cy="3318030"/>
          </a:xfrm>
          <a:prstGeom prst="rect">
            <a:avLst/>
          </a:prstGeom>
        </p:spPr>
        <p:txBody>
          <a:bodyPr anchor="t" rtlCol="false" tIns="0" lIns="0" bIns="0" rIns="0">
            <a:spAutoFit/>
          </a:bodyPr>
          <a:lstStyle/>
          <a:p>
            <a:pPr algn="l">
              <a:lnSpc>
                <a:spcPts val="6641"/>
              </a:lnSpc>
            </a:pPr>
            <a:r>
              <a:rPr lang="en-US" sz="4743" b="true">
                <a:solidFill>
                  <a:srgbClr val="000000"/>
                </a:solidFill>
                <a:latin typeface="Garet Bold"/>
                <a:ea typeface="Garet Bold"/>
                <a:cs typeface="Garet Bold"/>
                <a:sym typeface="Garet Bold"/>
              </a:rPr>
              <a:t>Team Members:</a:t>
            </a:r>
          </a:p>
          <a:p>
            <a:pPr algn="l">
              <a:lnSpc>
                <a:spcPts val="6641"/>
              </a:lnSpc>
            </a:pPr>
            <a:r>
              <a:rPr lang="en-US" sz="4743" b="true">
                <a:solidFill>
                  <a:srgbClr val="000000"/>
                </a:solidFill>
                <a:latin typeface="Garet Bold"/>
                <a:ea typeface="Garet Bold"/>
                <a:cs typeface="Garet Bold"/>
                <a:sym typeface="Garet Bold"/>
              </a:rPr>
              <a:t>Mythili Anu keerthana </a:t>
            </a:r>
          </a:p>
          <a:p>
            <a:pPr algn="l">
              <a:lnSpc>
                <a:spcPts val="6641"/>
              </a:lnSpc>
              <a:spcBef>
                <a:spcPct val="0"/>
              </a:spcBef>
            </a:pPr>
            <a:r>
              <a:rPr lang="en-US" b="true" sz="4743">
                <a:solidFill>
                  <a:srgbClr val="000000"/>
                </a:solidFill>
                <a:latin typeface="Garet Bold"/>
                <a:ea typeface="Garet Bold"/>
                <a:cs typeface="Garet Bold"/>
                <a:sym typeface="Garet Bold"/>
              </a:rPr>
              <a:t>Swathi D                        </a:t>
            </a:r>
          </a:p>
          <a:p>
            <a:pPr algn="l">
              <a:lnSpc>
                <a:spcPts val="6641"/>
              </a:lnSpc>
              <a:spcBef>
                <a:spcPct val="0"/>
              </a:spcBef>
            </a:pPr>
            <a:r>
              <a:rPr lang="en-US" b="true" sz="4743">
                <a:solidFill>
                  <a:srgbClr val="000000"/>
                </a:solidFill>
                <a:latin typeface="Garet Bold"/>
                <a:ea typeface="Garet Bold"/>
                <a:cs typeface="Garet Bold"/>
                <a:sym typeface="Garet Bold"/>
              </a:rPr>
              <a:t>Anusri 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DAGv-s1tL1Y</dc:identifier>
  <dcterms:modified xsi:type="dcterms:W3CDTF">2011-08-01T06:04:30Z</dcterms:modified>
  <cp:revision>1</cp:revision>
  <dc:title>TITLE</dc:title>
</cp:coreProperties>
</file>